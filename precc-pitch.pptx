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1E90FF"/>
                </a:solidFill>
              </a:rPr>
              <a:t>PRECC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Predictive Error Correction for Claude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2316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CCCC"/>
                </a:solidFill>
              </a:rPr>
              <a:t>预测性错误纠正 · 面向 AI 编程助手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108960"/>
            <a:ext cx="11274552" cy="182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Saves ~34% of AI coding costs automatically
Zero configuration · 2.93ms latency · Learns from your sessions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32461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CCCCCC"/>
                </a:solidFill>
              </a:rPr>
              <a:t>自动节省约 34% 的 AI 编程费用
零配置 · 2.93ms 延迟 · 从您的会话中学习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3108960"/>
            <a:ext cx="18288" cy="128016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C878"/>
                </a:solidFill>
              </a:rPr>
              <a:t>Supports: Claude · Gemini · Codex · Any OpenAI-compatible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4572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00C878"/>
                </a:solidFill>
              </a:rPr>
              <a:t>支持：Claude · DeepSeek · Qwen · Kimi · 任意兼容 API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88"/>
                </a:solidFill>
              </a:rPr>
              <a:t>github.com/yijunyu/precc-cc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The Problem  /  问题所在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74552" cy="182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90FF"/>
                </a:solidFill>
              </a:rPr>
              <a:t>EN  Every AI Coding Session Wastes Tokens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b="1">
                <a:solidFill>
                  <a:srgbClr val="00CCCC"/>
                </a:solidFill>
              </a:rPr>
              <a:t>-&gt; </a:t>
            </a:r>
            <a:r>
              <a:rPr sz="1400">
                <a:solidFill>
                  <a:srgbClr val="FFFFFF"/>
                </a:solidFill>
              </a:rPr>
              <a:t>Claude runs `cargo build` in wrong directory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00CCCC"/>
                </a:solidFill>
              </a:rPr>
              <a:t>-&gt; </a:t>
            </a:r>
            <a:r>
              <a:rPr sz="1400">
                <a:solidFill>
                  <a:srgbClr val="FFFFFF"/>
                </a:solidFill>
              </a:rPr>
              <a:t>Command fails immediately (exit code 1)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00CCCC"/>
                </a:solidFill>
              </a:rPr>
              <a:t>-&gt; </a:t>
            </a:r>
            <a:r>
              <a:rPr sz="1400">
                <a:solidFill>
                  <a:srgbClr val="FFFFFF"/>
                </a:solidFill>
              </a:rPr>
              <a:t>Claude reads 200+ tokens of error output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00CCCC"/>
                </a:solidFill>
              </a:rPr>
              <a:t>-&gt; </a:t>
            </a:r>
            <a:r>
              <a:rPr sz="1400">
                <a:solidFill>
                  <a:srgbClr val="FFFFFF"/>
                </a:solidFill>
              </a:rPr>
              <a:t>Claude figures out the right directory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00CCCC"/>
                </a:solidFill>
              </a:rPr>
              <a:t>-&gt; </a:t>
            </a:r>
            <a:r>
              <a:rPr sz="1400">
                <a:solidFill>
                  <a:srgbClr val="FFFFFF"/>
                </a:solidFill>
              </a:rPr>
              <a:t>Claude retries with correct path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00CCCC"/>
                </a:solidFill>
              </a:rPr>
              <a:t> </a:t>
            </a:r>
            <a:r>
              <a:rPr sz="14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00CCCC"/>
                </a:solidFill>
              </a:rPr>
              <a:t>X </a:t>
            </a:r>
            <a:r>
              <a:rPr sz="1400">
                <a:solidFill>
                  <a:srgbClr val="FFFFFF"/>
                </a:solidFill>
              </a:rPr>
              <a:t>5 round-trips, ~500 tokens, zero actual work done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005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CCCC"/>
                </a:solidFill>
              </a:rPr>
              <a:t>ZH  每次 AI 编程都在浪费 Token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50876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b="1">
                <a:solidFill>
                  <a:srgbClr val="00CCCC"/>
                </a:solidFill>
              </a:rPr>
              <a:t>-&gt; </a:t>
            </a:r>
            <a:r>
              <a:rPr sz="1400">
                <a:solidFill>
                  <a:srgbClr val="FFFFFF"/>
                </a:solidFill>
              </a:rPr>
              <a:t>AI 在错误目录运行 cargo build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00CCCC"/>
                </a:solidFill>
              </a:rPr>
              <a:t>-&gt; </a:t>
            </a:r>
            <a:r>
              <a:rPr sz="1400">
                <a:solidFill>
                  <a:srgbClr val="FFFFFF"/>
                </a:solidFill>
              </a:rPr>
              <a:t>命令立即失败（退出码 1）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00CCCC"/>
                </a:solidFill>
              </a:rPr>
              <a:t>-&gt; </a:t>
            </a:r>
            <a:r>
              <a:rPr sz="1400">
                <a:solidFill>
                  <a:srgbClr val="FFFFFF"/>
                </a:solidFill>
              </a:rPr>
              <a:t>AI 读取 200+ token 的错误输出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00CCCC"/>
                </a:solidFill>
              </a:rPr>
              <a:t>-&gt; </a:t>
            </a:r>
            <a:r>
              <a:rPr sz="1400">
                <a:solidFill>
                  <a:srgbClr val="FFFFFF"/>
                </a:solidFill>
              </a:rPr>
              <a:t>AI 推断正确目录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00CCCC"/>
                </a:solidFill>
              </a:rPr>
              <a:t>-&gt; </a:t>
            </a:r>
            <a:r>
              <a:rPr sz="1400">
                <a:solidFill>
                  <a:srgbClr val="FFFFFF"/>
                </a:solidFill>
              </a:rPr>
              <a:t>AI 重试正确路径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00CCCC"/>
                </a:solidFill>
              </a:rPr>
              <a:t> </a:t>
            </a:r>
            <a:r>
              <a:rPr sz="14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00CCCC"/>
                </a:solidFill>
              </a:rPr>
              <a:t>X </a:t>
            </a:r>
            <a:r>
              <a:rPr sz="1400">
                <a:solidFill>
                  <a:srgbClr val="FFFFFF"/>
                </a:solidFill>
              </a:rPr>
              <a:t>5 次往返，约 500 token，实际工作量为零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868680"/>
            <a:ext cx="18288" cy="43891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5074920"/>
            <a:ext cx="11274552" cy="182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516636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CC00"/>
                </a:solidFill>
              </a:rPr>
              <a:t>17% of all bash commands needed correction  ·  98% of failures were preventable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5321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CC00"/>
                </a:solidFill>
              </a:rPr>
              <a:t>17% 的 bash 命令需要纠正  ·  98% 的失败是可预防的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Measured Results  /  实测数据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74552" cy="182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</a:rPr>
              <a:t>29 real Claude Code sessions · 5 projects · 5,384 bash calls · $878 total spend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</a:rPr>
              <a:t>29 次真实会话 · 5 个项目 · 5,384 次 bash 调用 · $878 总费用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2103120" cy="1645920"/>
          </a:xfrm>
          <a:prstGeom prst="rect">
            <a:avLst/>
          </a:prstGeom>
          <a:solidFill>
            <a:srgbClr val="1A2B3D"/>
          </a:solidFill>
          <a:ln w="19050">
            <a:solidFill>
              <a:srgbClr val="00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C878"/>
                </a:solidFill>
              </a:rPr>
              <a:t>34%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5146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Cost Savings
节省费用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691640"/>
            <a:ext cx="2103120" cy="1645920"/>
          </a:xfrm>
          <a:prstGeom prst="rect">
            <a:avLst/>
          </a:prstGeom>
          <a:solidFill>
            <a:srgbClr val="1A2B3D"/>
          </a:solidFill>
          <a:ln w="190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1760" y="173736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E90FF"/>
                </a:solidFill>
              </a:rPr>
              <a:t>98%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5146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Failures Prevented
失败预防率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1691640"/>
            <a:ext cx="2103120" cy="1645920"/>
          </a:xfrm>
          <a:prstGeom prst="rect">
            <a:avLst/>
          </a:prstGeom>
          <a:solidFill>
            <a:srgbClr val="1A2B3D"/>
          </a:solidFill>
          <a:ln w="19050">
            <a:solidFill>
              <a:srgbClr val="00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173736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CCCC"/>
                </a:solidFill>
              </a:rPr>
              <a:t>17%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5146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Commands Improved
命令改善率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0" y="1691640"/>
            <a:ext cx="2103120" cy="1645920"/>
          </a:xfrm>
          <a:prstGeom prst="rect">
            <a:avLst/>
          </a:prstGeom>
          <a:solidFill>
            <a:srgbClr val="1A2B3D"/>
          </a:solidFill>
          <a:ln w="1905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173736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CC00"/>
                </a:solidFill>
              </a:rPr>
              <a:t>59%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5146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Cache Tokens Saved
缓存 Token 节省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09760" y="1691640"/>
            <a:ext cx="2103120" cy="1645920"/>
          </a:xfrm>
          <a:prstGeom prst="rect">
            <a:avLst/>
          </a:prstGeom>
          <a:solidFill>
            <a:srgbClr val="1A2B3D"/>
          </a:solidFill>
          <a:ln w="19050">
            <a:solidFill>
              <a:srgbClr val="FF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173736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6666"/>
                </a:solidFill>
              </a:rPr>
              <a:t>&lt;5ms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25146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Hook Latency (p99)
钩子延迟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520440"/>
            <a:ext cx="11274552" cy="182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703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C00"/>
                </a:solidFill>
              </a:rPr>
              <a:t>$296 / $878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37033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Cost savings (real billing data, 29 sessions)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703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费用节省（真实账单，29 次会话）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36168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C00"/>
                </a:solidFill>
              </a:rPr>
              <a:t>352 / 358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4361688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Failures prevented (exit-code tracking)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36168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预防失败（退出码追踪）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02005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C00"/>
                </a:solidFill>
              </a:rPr>
              <a:t>894 / 5,384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0" y="5020056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Bash commands improved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502005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bash 命令改善数量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67842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C00"/>
                </a:solidFill>
              </a:rPr>
              <a:t>988M / 1.67B tokens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60320" y="5678424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Cache reads saved (RTK compression + retry prevention)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567842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缓存读取节省（RTK 压缩 + 重试预防）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92240" y="3566160"/>
            <a:ext cx="18288" cy="260604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How It Works  /  工作原理 — Four Pillars · 四大支柱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74552" cy="182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2651760" cy="5120640"/>
          </a:xfrm>
          <a:prstGeom prst="rect">
            <a:avLst/>
          </a:prstGeom>
          <a:solidFill>
            <a:srgbClr val="102030"/>
          </a:solidFill>
          <a:ln w="19050">
            <a:solidFill>
              <a:srgbClr val="00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878"/>
                </a:solidFill>
              </a:rPr>
              <a:t>Pillar 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2468879" cy="13716"/>
          </a:xfrm>
          <a:prstGeom prst="rect">
            <a:avLst/>
          </a:prstGeom>
          <a:solidFill>
            <a:srgbClr val="00C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0020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Context Resolution
目录自动定位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23160"/>
            <a:ext cx="246887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Detects wrong-directory calls
Prepends cd /correct/path &amp;&amp;
检测错误目录命令
自动补全正确路径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005840"/>
            <a:ext cx="2651760" cy="5120640"/>
          </a:xfrm>
          <a:prstGeom prst="rect">
            <a:avLst/>
          </a:prstGeom>
          <a:solidFill>
            <a:srgbClr val="102030"/>
          </a:solidFill>
          <a:ln w="19050">
            <a:solidFill>
              <a:srgbClr val="FF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10972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6666"/>
                </a:solidFill>
              </a:rPr>
              <a:t>Pillar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554480"/>
            <a:ext cx="2468879" cy="13716"/>
          </a:xfrm>
          <a:prstGeom prst="rect">
            <a:avLst/>
          </a:prstGeom>
          <a:solidFill>
            <a:srgbClr val="FF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160020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GDB Debug Advisor
GDB 调试建议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423160"/>
            <a:ext cx="246887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When command fails &gt;=2x in 24h
Suggests structured debugging
命令 24h 内失败 &gt;=2 次
建议使用 precc debug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005840"/>
            <a:ext cx="2651760" cy="5120640"/>
          </a:xfrm>
          <a:prstGeom prst="rect">
            <a:avLst/>
          </a:prstGeom>
          <a:solidFill>
            <a:srgbClr val="102030"/>
          </a:solidFill>
          <a:ln w="1905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10972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C00"/>
                </a:solidFill>
              </a:rPr>
              <a:t>Pillar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554480"/>
            <a:ext cx="2468879" cy="13716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160020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Failure-Fix Mining
失败-修复挖掘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423160"/>
            <a:ext cx="246887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Parses session JSONL logs
Extracts failure-&gt;fix patterns
解析会话 JSONL 日志
提取失败-&gt;修复模式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69680" y="1005840"/>
            <a:ext cx="2651760" cy="5120640"/>
          </a:xfrm>
          <a:prstGeom prst="rect">
            <a:avLst/>
          </a:prstGeom>
          <a:solidFill>
            <a:srgbClr val="102030"/>
          </a:solidFill>
          <a:ln w="190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10972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90FF"/>
                </a:solidFill>
              </a:rPr>
              <a:t>Pillar 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20" y="1554480"/>
            <a:ext cx="2468879" cy="13716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0" y="160020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Skill Matching
技能匹配应用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2423160"/>
            <a:ext cx="246887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Matches command to learned skills
Auto-applies at confidence &gt;= 0.7
匹配命令与习得技能
置信度 &gt;= 0.7 时自动应用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Architecture  /  架构设计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74552" cy="182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029200" cy="530352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1100">
                <a:solidFill>
                  <a:srgbClr val="00CCCC"/>
                </a:solidFill>
                <a:latin typeface="Courier New"/>
              </a:rPr>
              <a:t>  stdin (JSON: bash command)
         |
         v
  +---------------------------------+
  |  precc-hook  (Rust binary)      |
  |                                 |
  |  Stage 1: Parse hook JSON       |
  |  Stage 2: Skill match (0.7+)    |
  |  Stage 3: Context resolution    |
  |  Stage 4: GDB opportunity       |
  |  Stage 5: RTK compression       |
  |                                 |
  |  Fail-open: error -&gt; exit 0     |
  +---------------------------------+
         |
         v
  stdout (modified command JSON)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10058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Four Binaries  ·  四个二进制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0" y="1508760"/>
            <a:ext cx="5943600" cy="1097280"/>
          </a:xfrm>
          <a:prstGeom prst="rect">
            <a:avLst/>
          </a:prstGeom>
          <a:solidFill>
            <a:srgbClr val="122235"/>
          </a:solidFill>
          <a:ln w="1270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0" y="15544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90FF"/>
                </a:solidFill>
              </a:rPr>
              <a:t>precc-hook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1874519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PreToolUse:Bash hook
&lt;5ms · fail-open · zero network
PreToolUse:Bash 钩子 · 无网络调用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2743200"/>
            <a:ext cx="5943600" cy="1097280"/>
          </a:xfrm>
          <a:prstGeom prst="rect">
            <a:avLst/>
          </a:prstGeom>
          <a:solidFill>
            <a:srgbClr val="122235"/>
          </a:solidFill>
          <a:ln w="12700">
            <a:solidFill>
              <a:srgbClr val="00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0" y="27889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878"/>
                </a:solidFill>
              </a:rPr>
              <a:t>precc-cli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3108960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User CLI: init/ingest/skills/report
用户命令行工具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3977639"/>
            <a:ext cx="5943600" cy="1097280"/>
          </a:xfrm>
          <a:prstGeom prst="rect">
            <a:avLst/>
          </a:prstGeom>
          <a:solidFill>
            <a:srgbClr val="122235"/>
          </a:solidFill>
          <a:ln w="1270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0" y="4023359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C00"/>
                </a:solidFill>
              </a:rPr>
              <a:t>precc-miner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4343400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Background daemon · mines sessions
后台守护进程 · 挖掘会话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0" y="5212080"/>
            <a:ext cx="5943600" cy="1097280"/>
          </a:xfrm>
          <a:prstGeom prst="rect">
            <a:avLst/>
          </a:prstGeom>
          <a:solidFill>
            <a:srgbClr val="122235"/>
          </a:solidFill>
          <a:ln w="12700">
            <a:solidFill>
              <a:srgbClr val="00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52578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CCC"/>
                </a:solidFill>
              </a:rPr>
              <a:t>precc-core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5577840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Shared lib: context/skills/DB/RTK
共享库：上下文/技能/数据库/RTK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AI Model Support  /  AI 模型支持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74552" cy="182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90FF"/>
                </a:solidFill>
              </a:rPr>
              <a:t>International  ·  国际版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303520" cy="914400"/>
          </a:xfrm>
          <a:prstGeom prst="rect">
            <a:avLst/>
          </a:prstGeom>
          <a:solidFill>
            <a:srgbClr val="122235"/>
          </a:solidFill>
          <a:ln w="190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3619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90FF"/>
                </a:solidFill>
              </a:rPr>
              <a:t>Claude (Anthropic)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0195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claude-opus-4 · claude-sonnet-4 · claude-haiku-4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14600"/>
            <a:ext cx="5303520" cy="914400"/>
          </a:xfrm>
          <a:prstGeom prst="rect">
            <a:avLst/>
          </a:prstGeom>
          <a:solidFill>
            <a:srgbClr val="122235"/>
          </a:solidFill>
          <a:ln w="19050">
            <a:solidFill>
              <a:srgbClr val="4D9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58775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D90FE"/>
                </a:solidFill>
              </a:rPr>
              <a:t>Gemini (Google)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5351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gemini-2.0-flash · gemini-1.5-pro · Vertex 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566160"/>
            <a:ext cx="5303520" cy="914400"/>
          </a:xfrm>
          <a:prstGeom prst="rect">
            <a:avLst/>
          </a:prstGeom>
          <a:solidFill>
            <a:srgbClr val="122235"/>
          </a:solidFill>
          <a:ln w="19050">
            <a:solidFill>
              <a:srgbClr val="6A0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63931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A0DAD"/>
                </a:solidFill>
              </a:rPr>
              <a:t>Codex / GitHub Copilot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00507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gpt-4o · o3 · Azure OpenAI · OpenAI API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617720"/>
            <a:ext cx="5303520" cy="914400"/>
          </a:xfrm>
          <a:prstGeom prst="rect">
            <a:avLst/>
          </a:prstGeom>
          <a:solidFill>
            <a:srgbClr val="122235"/>
          </a:solidFill>
          <a:ln w="190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69087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8888"/>
                </a:solidFill>
              </a:rPr>
              <a:t>Any OpenAI-compatible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056631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Custom API endpoint · OPENAI_API_BASE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9601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CCC"/>
                </a:solidFill>
              </a:rPr>
              <a:t>China Domestic  ·  国内版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463040"/>
            <a:ext cx="5486400" cy="914400"/>
          </a:xfrm>
          <a:prstGeom prst="rect">
            <a:avLst/>
          </a:prstGeom>
          <a:solidFill>
            <a:srgbClr val="122235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153619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FFF"/>
                </a:solidFill>
              </a:rPr>
              <a:t>DeepSeek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901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deepseek-chat · deepseek-coder · V3/R1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514600"/>
            <a:ext cx="5486400" cy="914400"/>
          </a:xfrm>
          <a:prstGeom prst="rect">
            <a:avLst/>
          </a:prstGeom>
          <a:solidFill>
            <a:srgbClr val="122235"/>
          </a:solidFill>
          <a:ln w="1905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258775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6600"/>
                </a:solidFill>
              </a:rPr>
              <a:t>Qwen (阿里通义)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95351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qwen-turbo · qwen-max · Qwen 2.5 Coder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566160"/>
            <a:ext cx="5486400" cy="914400"/>
          </a:xfrm>
          <a:prstGeom prst="rect">
            <a:avLst/>
          </a:prstGeom>
          <a:solidFill>
            <a:srgbClr val="122235"/>
          </a:solidFill>
          <a:ln w="19050">
            <a:solidFill>
              <a:srgbClr val="00CC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363931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C77"/>
                </a:solidFill>
              </a:rPr>
              <a:t>Kimi (月之暗面)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00507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moonshot-v1 · Kimi k1.5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4617720"/>
            <a:ext cx="5486400" cy="914400"/>
          </a:xfrm>
          <a:prstGeom prst="rect">
            <a:avLst/>
          </a:prstGeom>
          <a:solidFill>
            <a:srgbClr val="122235"/>
          </a:solidFill>
          <a:ln w="190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469087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8888"/>
                </a:solidFill>
              </a:rPr>
              <a:t>自定义模型端点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5056631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任意兼容 OpenAI API 的本地或云端模型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868680"/>
            <a:ext cx="18288" cy="53035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6217920"/>
            <a:ext cx="11274552" cy="182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281928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CC00"/>
                </a:solidFill>
              </a:rPr>
              <a:t>PRECC hooks PreToolUse:Bash — model-agnostic by design  ·  PRECC 钩子与模型无关，支持任意 AI 编程助手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Security &amp; Privacy  /  安全与隐私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74552" cy="182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577840" cy="2286000"/>
          </a:xfrm>
          <a:prstGeom prst="rect">
            <a:avLst/>
          </a:prstGeom>
          <a:solidFill>
            <a:srgbClr val="102030"/>
          </a:solidFill>
          <a:ln w="19050">
            <a:solidFill>
              <a:srgbClr val="00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878"/>
                </a:solidFill>
              </a:rPr>
              <a:t>AES-256 Encryption
AES-256 加密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5394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All databases encrypted via SQLCipher
Key = HKDF-SHA256(machine-id + username)
No passphrase · No key on disk · Unreadable on other machines
所有数据库通过 SQLCipher 加密 · 密钥绑定机器 · 无需密码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005840"/>
            <a:ext cx="5577840" cy="2286000"/>
          </a:xfrm>
          <a:prstGeom prst="rect">
            <a:avLst/>
          </a:prstGeom>
          <a:solidFill>
            <a:srgbClr val="102030"/>
          </a:solidFill>
          <a:ln w="190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097280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90FF"/>
                </a:solidFill>
              </a:rPr>
              <a:t>Zero Network Calls
零网络调用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5394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Hook makes no network calls at runtime
All data is local · No telemetry · No phone-home
运行时无网络调用 · 所有数据本地存储 · 无遥测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566160"/>
            <a:ext cx="5577840" cy="2286000"/>
          </a:xfrm>
          <a:prstGeom prst="rect">
            <a:avLst/>
          </a:prstGeom>
          <a:solidFill>
            <a:srgbClr val="102030"/>
          </a:solidFill>
          <a:ln w="19050">
            <a:solidFill>
              <a:srgbClr val="00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657600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CCC"/>
                </a:solidFill>
              </a:rPr>
              <a:t>Fail-Open Design
故障安全设计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51960"/>
            <a:ext cx="5394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Any error -&gt; exit 0 (approve unchanged)
PRECC crash never blocks your AI coding session
任何错误 -&gt; 退出码 0（不修改命令）
PRECC 崩溃不会阻断 AI 编程会话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3566160"/>
            <a:ext cx="5577840" cy="2286000"/>
          </a:xfrm>
          <a:prstGeom prst="rect">
            <a:avLst/>
          </a:prstGeom>
          <a:solidFill>
            <a:srgbClr val="102030"/>
          </a:solidFill>
          <a:ln w="1905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657600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CC00"/>
                </a:solidFill>
              </a:rPr>
              <a:t>Binary Hardening
二进制加固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251960"/>
            <a:ext cx="5394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obfstr compile-time string obfuscation
Reduces information leakage via strings(1)
编译时字符串混淆 · 降低逆向工程风险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Skills &amp; Learning Loop  /  技能与学习循环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74552" cy="182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CC00"/>
                </a:solidFill>
              </a:rPr>
              <a:t>Skill Confidence Lifecycle  ·  技能置信度生命周期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2103120" cy="1737360"/>
          </a:xfrm>
          <a:prstGeom prst="rect">
            <a:avLst/>
          </a:prstGeom>
          <a:solidFill>
            <a:srgbClr val="122235"/>
          </a:solidFill>
          <a:ln w="254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087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8888"/>
                </a:solidFill>
              </a:rPr>
              <a:t>CANDIDATE
候选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1168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0.3
Created on
3+ occurrences
出现 3+ 次创建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554480"/>
            <a:ext cx="365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E90FF"/>
                </a:solidFill>
              </a:rPr>
              <a:t>-&gt;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1463040"/>
            <a:ext cx="2103120" cy="1737360"/>
          </a:xfrm>
          <a:prstGeom prst="rect">
            <a:avLst/>
          </a:prstGeom>
          <a:solidFill>
            <a:srgbClr val="122235"/>
          </a:solidFill>
          <a:ln w="2540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15087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90FF"/>
                </a:solidFill>
              </a:rPr>
              <a:t>ACTIVE
活跃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01168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0.7
Auto-applies
5+ activations
5+ 次激活自动应用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1554480"/>
            <a:ext cx="365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E90FF"/>
                </a:solidFill>
              </a:rPr>
              <a:t>-&gt;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0" y="1463040"/>
            <a:ext cx="2103120" cy="1737360"/>
          </a:xfrm>
          <a:prstGeom prst="rect">
            <a:avLst/>
          </a:prstGeom>
          <a:solidFill>
            <a:srgbClr val="122235"/>
          </a:solidFill>
          <a:ln w="25400">
            <a:solidFill>
              <a:srgbClr val="00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0" y="15087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878"/>
                </a:solidFill>
              </a:rPr>
              <a:t>TRUSTED
可信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01168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0.9
20+ activations
&lt;5% failure rate
20+ 次 · 失败率&lt;5%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1645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6666"/>
                </a:solidFill>
              </a:rPr>
              <a:t>DISABLED if failure rate &gt; 20%  ·  失败率 &gt; 20% 时自动禁用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83280"/>
            <a:ext cx="11274552" cy="182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5204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CCC"/>
                </a:solidFill>
              </a:rPr>
              <a:t>Built-in Skills (6)  ·  内置技能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8862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cargo-wrong-dir  ·  git-wrong-dir  ·  go-wrong-dir  ·  make-wrong-dir  ·  npm-wrong-dir  ·  python-wrong-dir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352044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CCC"/>
                </a:solidFill>
              </a:rPr>
              <a:t>Manage Skills  ·  技能管理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38862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90FF"/>
                </a:solidFill>
              </a:rPr>
              <a:t>precc skills list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388620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List all skills with stats  ·  列出所有技能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4805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90FF"/>
                </a:solidFill>
              </a:rPr>
              <a:t>precc skills show &lt;name&gt;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448056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Full trigger/action detail  ·  查看详情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50749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90FF"/>
                </a:solidFill>
              </a:rPr>
              <a:t>precc skills export &lt;name&gt;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5074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Export as TOML  ·  导出为 TOML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56692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90FF"/>
                </a:solidFill>
              </a:rPr>
              <a:t>precc skills edit &lt;name&gt;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56692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Open in $EDITOR  ·  用编辑器修改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Install &amp; Get Started  /  安装与快速上手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74552" cy="182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78"/>
                </a:solidFill>
              </a:rPr>
              <a:t>Linux / macOS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00CCCC"/>
                </a:solidFill>
                <a:latin typeface="Courier New"/>
              </a:rPr>
              <a:t>curl -fsSL https://raw.githubusercontent.com/
  yijunyu/precc-cc/main/scripts/install.sh | bash
precc init
precc ingest --all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C00"/>
                </a:solidFill>
              </a:rPr>
              <a:t>Windows (PowerShell)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4612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00CCCC"/>
                </a:solidFill>
                <a:latin typeface="Courier New"/>
              </a:rPr>
              <a:t>iwr -useb https://raw.githubusercontent.com/
  yijunyu/precc-cc/main/scripts/install.ps1 | iex
precc init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34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</a:rPr>
              <a:t>国内用户可从 GitHub Releases 手动下载对应平台二进制文件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960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90FF"/>
                </a:solidFill>
              </a:rPr>
              <a:t>What happens next  ·  安装后自动工作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417320"/>
            <a:ext cx="5486400" cy="868680"/>
          </a:xfrm>
          <a:prstGeom prst="rect">
            <a:avLst/>
          </a:prstGeom>
          <a:solidFill>
            <a:srgbClr val="122235"/>
          </a:solidFill>
          <a:ln w="12700">
            <a:solidFill>
              <a:srgbClr val="00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490472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C878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1490472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precc init creates encrypted databases
precc init 创建加密数据库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423160"/>
            <a:ext cx="5486400" cy="868680"/>
          </a:xfrm>
          <a:prstGeom prst="rect">
            <a:avLst/>
          </a:prstGeom>
          <a:solidFill>
            <a:srgbClr val="122235"/>
          </a:solidFill>
          <a:ln w="12700">
            <a:solidFill>
              <a:srgbClr val="00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496312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CCCC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496312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Hook auto-wired to ~/.claude/settings.json
钩子自动写入 Claude 配置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429000"/>
            <a:ext cx="5486400" cy="868680"/>
          </a:xfrm>
          <a:prstGeom prst="rect">
            <a:avLst/>
          </a:prstGeom>
          <a:solidFill>
            <a:srgbClr val="122235"/>
          </a:solidFill>
          <a:ln w="1270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3502152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CC00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3502152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Every bash command passes through PRECC
每次 bash 命令经过 PRECC 拦截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434840"/>
            <a:ext cx="5486400" cy="868680"/>
          </a:xfrm>
          <a:prstGeom prst="rect">
            <a:avLst/>
          </a:prstGeom>
          <a:solidFill>
            <a:srgbClr val="122235"/>
          </a:solidFill>
          <a:ln w="1270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4507992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90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4507992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precc ingest --all mines your history
precc ingest --all 挖掘历史会话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5440680"/>
            <a:ext cx="5486400" cy="868680"/>
          </a:xfrm>
          <a:prstGeom prst="rect">
            <a:avLst/>
          </a:prstGeom>
          <a:solidFill>
            <a:srgbClr val="122235"/>
          </a:solidFill>
          <a:ln w="12700">
            <a:solidFill>
              <a:srgbClr val="00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5513832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C878"/>
                </a:solidFill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5513832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precc report shows savings dashboard
precc report 查看节省报告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868680"/>
            <a:ext cx="18288" cy="521208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ROI &amp; Savings  /  投资回报分析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74552" cy="182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CC00"/>
                </a:solidFill>
              </a:rPr>
              <a:t>Team Size  ·  团队规模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1645920" cy="411480"/>
          </a:xfrm>
          <a:prstGeom prst="rect">
            <a:avLst/>
          </a:prstGeom>
          <a:solidFill>
            <a:srgbClr val="1E4060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9047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CC00"/>
                </a:solidFill>
              </a:rPr>
              <a:t>Team Size</a:t>
            </a:r>
          </a:p>
        </p:txBody>
      </p:sp>
      <p:sp>
        <p:nvSpPr>
          <p:cNvPr id="8" name="Rectangle 7"/>
          <p:cNvSpPr/>
          <p:nvPr/>
        </p:nvSpPr>
        <p:spPr>
          <a:xfrm>
            <a:off x="2103120" y="1463040"/>
            <a:ext cx="2011680" cy="411480"/>
          </a:xfrm>
          <a:prstGeom prst="rect">
            <a:avLst/>
          </a:prstGeom>
          <a:solidFill>
            <a:srgbClr val="1E4060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3120" y="14904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CC00"/>
                </a:solidFill>
              </a:rPr>
              <a:t>Monthly AI Cost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463040"/>
            <a:ext cx="2286000" cy="411480"/>
          </a:xfrm>
          <a:prstGeom prst="rect">
            <a:avLst/>
          </a:prstGeom>
          <a:solidFill>
            <a:srgbClr val="1E4060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149047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CC00"/>
                </a:solidFill>
              </a:rPr>
              <a:t>PRECC Saves (34%)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1463040"/>
            <a:ext cx="2011680" cy="411480"/>
          </a:xfrm>
          <a:prstGeom prst="rect">
            <a:avLst/>
          </a:prstGeom>
          <a:solidFill>
            <a:srgbClr val="1E4060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4904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CC00"/>
                </a:solidFill>
              </a:rPr>
              <a:t>Annual Savings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0" y="1463040"/>
            <a:ext cx="3017520" cy="411480"/>
          </a:xfrm>
          <a:prstGeom prst="rect">
            <a:avLst/>
          </a:prstGeom>
          <a:solidFill>
            <a:srgbClr val="1E4060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149047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CC00"/>
                </a:solidFill>
              </a:rPr>
              <a:t>ROI on $20/seat/mo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920240"/>
            <a:ext cx="1645920" cy="457200"/>
          </a:xfrm>
          <a:prstGeom prst="rect">
            <a:avLst/>
          </a:prstGeom>
          <a:solidFill>
            <a:srgbClr val="102030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194767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1 dev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03120" y="1920240"/>
            <a:ext cx="2011680" cy="457200"/>
          </a:xfrm>
          <a:prstGeom prst="rect">
            <a:avLst/>
          </a:prstGeom>
          <a:solidFill>
            <a:srgbClr val="102030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03120" y="194767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$200/mo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1920240"/>
            <a:ext cx="2286000" cy="457200"/>
          </a:xfrm>
          <a:prstGeom prst="rect">
            <a:avLst/>
          </a:prstGeom>
          <a:solidFill>
            <a:srgbClr val="102030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0" y="194767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C878"/>
                </a:solidFill>
              </a:rPr>
              <a:t>$68/mo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1920240"/>
            <a:ext cx="2011680" cy="457200"/>
          </a:xfrm>
          <a:prstGeom prst="rect">
            <a:avLst/>
          </a:prstGeom>
          <a:solidFill>
            <a:srgbClr val="102030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194767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C878"/>
                </a:solidFill>
              </a:rPr>
              <a:t>$816/yr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0" y="1920240"/>
            <a:ext cx="3017520" cy="457200"/>
          </a:xfrm>
          <a:prstGeom prst="rect">
            <a:avLst/>
          </a:prstGeom>
          <a:solidFill>
            <a:srgbClr val="102030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0" y="194767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C878"/>
                </a:solidFill>
              </a:rPr>
              <a:t>3.4x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423160"/>
            <a:ext cx="1645920" cy="457200"/>
          </a:xfrm>
          <a:prstGeom prst="rect">
            <a:avLst/>
          </a:prstGeom>
          <a:solidFill>
            <a:srgbClr val="122235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450591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10 devs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03120" y="2423160"/>
            <a:ext cx="2011680" cy="457200"/>
          </a:xfrm>
          <a:prstGeom prst="rect">
            <a:avLst/>
          </a:prstGeom>
          <a:solidFill>
            <a:srgbClr val="122235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0" y="2450591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$2,000/mo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06240" y="2423160"/>
            <a:ext cx="2286000" cy="457200"/>
          </a:xfrm>
          <a:prstGeom prst="rect">
            <a:avLst/>
          </a:prstGeom>
          <a:solidFill>
            <a:srgbClr val="122235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0" y="2450591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C878"/>
                </a:solidFill>
              </a:rPr>
              <a:t>$680/mo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0" y="2423160"/>
            <a:ext cx="2011680" cy="457200"/>
          </a:xfrm>
          <a:prstGeom prst="rect">
            <a:avLst/>
          </a:prstGeom>
          <a:solidFill>
            <a:srgbClr val="122235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2450591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C878"/>
                </a:solidFill>
              </a:rPr>
              <a:t>$8,160/yr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0" y="2423160"/>
            <a:ext cx="3017520" cy="457200"/>
          </a:xfrm>
          <a:prstGeom prst="rect">
            <a:avLst/>
          </a:prstGeom>
          <a:solidFill>
            <a:srgbClr val="122235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0" y="2450591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C878"/>
                </a:solidFill>
              </a:rPr>
              <a:t>3.4x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2926080"/>
            <a:ext cx="1645920" cy="457200"/>
          </a:xfrm>
          <a:prstGeom prst="rect">
            <a:avLst/>
          </a:prstGeom>
          <a:solidFill>
            <a:srgbClr val="102030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295351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50 devs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03120" y="2926080"/>
            <a:ext cx="2011680" cy="457200"/>
          </a:xfrm>
          <a:prstGeom prst="rect">
            <a:avLst/>
          </a:prstGeom>
          <a:solidFill>
            <a:srgbClr val="102030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0" y="295351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$10,000/mo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40" y="2926080"/>
            <a:ext cx="2286000" cy="457200"/>
          </a:xfrm>
          <a:prstGeom prst="rect">
            <a:avLst/>
          </a:prstGeom>
          <a:solidFill>
            <a:srgbClr val="102030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06240" y="295351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C878"/>
                </a:solidFill>
              </a:rPr>
              <a:t>$3,400/mo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0" y="2926080"/>
            <a:ext cx="2011680" cy="457200"/>
          </a:xfrm>
          <a:prstGeom prst="rect">
            <a:avLst/>
          </a:prstGeom>
          <a:solidFill>
            <a:srgbClr val="102030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0" y="295351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C878"/>
                </a:solidFill>
              </a:rPr>
              <a:t>$40,800/yr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686800" y="2926080"/>
            <a:ext cx="3017520" cy="457200"/>
          </a:xfrm>
          <a:prstGeom prst="rect">
            <a:avLst/>
          </a:prstGeom>
          <a:solidFill>
            <a:srgbClr val="102030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86800" y="295351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C878"/>
                </a:solidFill>
              </a:rPr>
              <a:t>3.4x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3429000"/>
            <a:ext cx="1645920" cy="457200"/>
          </a:xfrm>
          <a:prstGeom prst="rect">
            <a:avLst/>
          </a:prstGeom>
          <a:solidFill>
            <a:srgbClr val="122235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345643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100 devs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103120" y="3429000"/>
            <a:ext cx="2011680" cy="457200"/>
          </a:xfrm>
          <a:prstGeom prst="rect">
            <a:avLst/>
          </a:prstGeom>
          <a:solidFill>
            <a:srgbClr val="122235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0" y="3456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$20,000/mo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06240" y="3429000"/>
            <a:ext cx="2286000" cy="457200"/>
          </a:xfrm>
          <a:prstGeom prst="rect">
            <a:avLst/>
          </a:prstGeom>
          <a:solidFill>
            <a:srgbClr val="122235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06240" y="345643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C878"/>
                </a:solidFill>
              </a:rPr>
              <a:t>$6,800/mo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80" y="3429000"/>
            <a:ext cx="2011680" cy="457200"/>
          </a:xfrm>
          <a:prstGeom prst="rect">
            <a:avLst/>
          </a:prstGeom>
          <a:solidFill>
            <a:srgbClr val="122235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83680" y="3456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C878"/>
                </a:solidFill>
              </a:rPr>
              <a:t>$81,600/yr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86800" y="3429000"/>
            <a:ext cx="3017520" cy="457200"/>
          </a:xfrm>
          <a:prstGeom prst="rect">
            <a:avLst/>
          </a:prstGeom>
          <a:solidFill>
            <a:srgbClr val="122235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686800" y="345643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C878"/>
                </a:solidFill>
              </a:rPr>
              <a:t>3.4x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4069080"/>
            <a:ext cx="11274552" cy="182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416052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CCCC"/>
                </a:solidFill>
              </a:rPr>
              <a:t>国内市场分析  ·  以 DeepSeek/Qwen 为例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4617720"/>
            <a:ext cx="112745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00CCCC"/>
                </a:solidFill>
              </a:rPr>
              <a:t>· </a:t>
            </a:r>
            <a:r>
              <a:rPr sz="1300">
                <a:solidFill>
                  <a:srgbClr val="CCCCCC"/>
                </a:solidFill>
              </a:rPr>
              <a:t>国内 AI API 费用因模型而异，但错误重试造成的 Token 浪费比例相同（约 17%）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00CCCC"/>
                </a:solidFill>
              </a:rPr>
              <a:t>· </a:t>
            </a:r>
            <a:r>
              <a:rPr sz="1300">
                <a:solidFill>
                  <a:srgbClr val="CCCCCC"/>
                </a:solidFill>
              </a:rPr>
              <a:t>PRECC 的命令拦截与模型无关——同样节省 34% 的 Token 消耗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00CCCC"/>
                </a:solidFill>
              </a:rPr>
              <a:t>· </a:t>
            </a:r>
            <a:r>
              <a:rPr sz="1300">
                <a:solidFill>
                  <a:srgbClr val="CCCCCC"/>
                </a:solidFill>
              </a:rPr>
              <a:t>每月节省 = 月度 AI 费用 × 34%；PRECC 年费 $240/人，典型 ROI 3-10×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00CCCC"/>
                </a:solidFill>
              </a:rPr>
              <a:t>· </a:t>
            </a:r>
            <a:r>
              <a:rPr sz="1300">
                <a:solidFill>
                  <a:srgbClr val="CCCCCC"/>
                </a:solidFill>
              </a:rPr>
              <a:t>本地部署模型（Ollama 等）同样受益于命令纠正，节省推理计算资源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Business Model  /  商业模式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74552" cy="182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2743200" cy="5303520"/>
          </a:xfrm>
          <a:prstGeom prst="rect">
            <a:avLst/>
          </a:prstGeom>
          <a:solidFill>
            <a:srgbClr val="102030"/>
          </a:solidFill>
          <a:ln w="254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515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88888"/>
                </a:solidFill>
              </a:rPr>
              <a:t>Open 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463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开源核心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74519"/>
            <a:ext cx="2560320" cy="50292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9202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CC00"/>
                </a:solidFill>
              </a:rPr>
              <a:t>Free · 免费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514600"/>
            <a:ext cx="2560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· Core savings + session mining
· Built-in skills (6 patterns)
· precc report + precc savings
· 核心节省 · 内置技能 · 报告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005840"/>
            <a:ext cx="2743200" cy="5303520"/>
          </a:xfrm>
          <a:prstGeom prst="rect">
            <a:avLst/>
          </a:prstGeom>
          <a:solidFill>
            <a:srgbClr val="102030"/>
          </a:solidFill>
          <a:ln w="2540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10515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90FF"/>
                </a:solidFill>
              </a:rPr>
              <a:t>Pro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463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专业版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874519"/>
            <a:ext cx="2560320" cy="50292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19202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CC00"/>
                </a:solidFill>
              </a:rPr>
              <a:t>$20/seat/mo · ¥148/人/月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514600"/>
            <a:ext cx="2560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· Team heuristics sync
· Shared skills marketplace
· Priority pattern updates
· 团队技能同步 · 技能市场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005840"/>
            <a:ext cx="2743200" cy="5303520"/>
          </a:xfrm>
          <a:prstGeom prst="rect">
            <a:avLst/>
          </a:prstGeom>
          <a:solidFill>
            <a:srgbClr val="102030"/>
          </a:solidFill>
          <a:ln w="2540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10515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CC00"/>
                </a:solidFill>
              </a:rPr>
              <a:t>Enterprise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1463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企业版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874519"/>
            <a:ext cx="2560320" cy="50292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19202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CC00"/>
                </a:solidFill>
              </a:rPr>
              <a:t>Custom · 定制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514600"/>
            <a:ext cx="2560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· SOC-2 audit log
· SSO / SAML
· Private skills registry
· SLA + dedicated support
· SOC-2 · SSO · 私有注册表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2560" y="1005840"/>
            <a:ext cx="2743200" cy="5303520"/>
          </a:xfrm>
          <a:prstGeom prst="rect">
            <a:avLst/>
          </a:prstGeom>
          <a:solidFill>
            <a:srgbClr val="102030"/>
          </a:solidFill>
          <a:ln w="25400">
            <a:solidFill>
              <a:srgbClr val="00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0" y="10515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C878"/>
                </a:solidFill>
              </a:rPr>
              <a:t>OEM / Platform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1463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OEM/平台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1874519"/>
            <a:ext cx="2560320" cy="50292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0" y="19202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CC00"/>
                </a:solidFill>
              </a:rPr>
              <a:t>License · 授权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2514600"/>
            <a:ext cx="2560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· Embed in AI coding products
· White-label integration
· 嵌入 AI 编程产品
· 白标集成授权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Get Started Today  /  立即开始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4552" cy="182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88888"/>
                </a:solidFill>
              </a:rPr>
              <a:t>One command to try: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691640"/>
            <a:ext cx="9445752" cy="731520"/>
          </a:xfrm>
          <a:prstGeom prst="rect">
            <a:avLst/>
          </a:prstGeom>
          <a:solidFill>
            <a:srgbClr val="0A1525"/>
          </a:solidFill>
          <a:ln w="19050">
            <a:solidFill>
              <a:srgbClr val="00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737360"/>
            <a:ext cx="9445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C878"/>
                </a:solidFill>
              </a:rPr>
              <a:t>curl -fsSL https://raw.githubusercontent.com/yijunyu/precc-cc/main/scripts/install.sh | bash &amp;&amp; precc init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CCCC"/>
                </a:solidFill>
              </a:rPr>
              <a:t>国内用户：从 GitHub Releases 页面下载对应平台二进制，或配置代理后执行上述命令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017520"/>
            <a:ext cx="11274552" cy="182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C878"/>
                </a:solidFill>
              </a:rPr>
              <a:t>Try Free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11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</a:rPr>
              <a:t>立即免费体验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6908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Install in 30 seconds
Works on your existing sessions
Zero configuration required
30 秒安装 · 零配置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200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90FF"/>
                </a:solidFill>
              </a:rPr>
              <a:t>Measure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611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</a:rPr>
              <a:t>量化节省效果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406908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Run precc report after 5 sessions
See your actual dollar savings
Share the report with your team
5 次会话后查看节省报告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200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CC00"/>
                </a:solidFill>
              </a:rPr>
              <a:t>Contribute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611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</a:rPr>
              <a:t>参与开源共建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406908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Star on GitHub · Share your skills
Report patterns not yet covered
Join the skills marketplace beta
GitHub Star · 分享技能模板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263640"/>
            <a:ext cx="11274552" cy="182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30936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</a:rPr>
              <a:t>github.com/yijunyu/precc-cc  ·  MIT License  ·  Rust + SQLCipher + RTK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